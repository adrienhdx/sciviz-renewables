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9013dee7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9013dee7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9013dee7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9013dee7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013dee7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9013dee7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9013dee7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9013dee7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9013dee7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9013dee7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013dee7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013dee7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9013dee7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9013dee7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9013dee7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9013dee7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9013dee7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9013dee7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9013dee7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9013dee7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9013dee7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9013dee7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00209cdd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00209cdd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9013dee7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9013dee7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9013dee7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9013dee7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9013dee7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9013dee7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9013dee7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9013dee7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9013dee7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9013dee7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9013dee7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9013dee7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ff981a0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ff981a0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00209cdd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00209cdd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00209cdd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00209cdd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00209cdd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00209cdd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dfc795a0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dfc795a0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10700" y="977500"/>
            <a:ext cx="5922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>
                <a:solidFill>
                  <a:schemeClr val="dk2"/>
                </a:solidFill>
              </a:rPr>
              <a:t>Global Renewable Electricity: Trends, Forecasts to 2050, and Country Clusters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199450" y="2677350"/>
            <a:ext cx="474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Scientific Visualization - Università degli Studi di Milano, 2025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0400" y="3546200"/>
            <a:ext cx="4745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Daniyar Abdrakhmanov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Francesco Morgigno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Madizhan Islambek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Adrien Houdoux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307000" y="614250"/>
            <a:ext cx="453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Motivation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05100" y="1229850"/>
            <a:ext cx="8533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2"/>
                </a:solidFill>
              </a:rPr>
              <a:t>Renewables are growing, but the pace and the mix differ a lot across countries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it" sz="2400">
                <a:solidFill>
                  <a:schemeClr val="dk2"/>
                </a:solidFill>
              </a:rPr>
              <a:t>How did renewable electricity evolve since 1985?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it" sz="2400">
                <a:solidFill>
                  <a:schemeClr val="dk2"/>
                </a:solidFill>
              </a:rPr>
              <a:t>What might change by 2050 (if trends continue)?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it" sz="2400">
                <a:solidFill>
                  <a:schemeClr val="dk2"/>
                </a:solidFill>
              </a:rPr>
              <a:t>Can we group countries with similar transition patterns?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features_with_foreca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4700" y="672411"/>
            <a:ext cx="6814602" cy="43855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0" y="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By source: different growth patterns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875775" y="3823000"/>
            <a:ext cx="3103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Hydro is stable, while </a:t>
            </a:r>
            <a:r>
              <a:rPr lang="it" sz="1800">
                <a:solidFill>
                  <a:srgbClr val="6B6BCF"/>
                </a:solidFill>
              </a:rPr>
              <a:t>wind and solar</a:t>
            </a:r>
            <a:r>
              <a:rPr lang="it" sz="1800">
                <a:solidFill>
                  <a:schemeClr val="dk2"/>
                </a:solidFill>
              </a:rPr>
              <a:t> drive most of the recent increase.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7872300" y="4712400"/>
            <a:ext cx="127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chemeClr val="dk2"/>
                </a:solidFill>
              </a:rPr>
              <a:t>Dashed area = forecast (model-based).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0" y="0"/>
            <a:ext cx="914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Global renewables: median + spread across countries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76" name="Google Shape;76;p16" title="01_world_trend_iqr_center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925" y="990646"/>
            <a:ext cx="6535398" cy="39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6712325" y="2181000"/>
            <a:ext cx="2290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The typical country increases renewables, but the global spread remains large.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720750" y="0"/>
            <a:ext cx="7702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Forecast to 2050: trend continuation (with uncertainty)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83" name="Google Shape;83;p17" title="01_world_trend_iqr_centered_forecas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800" y="915400"/>
            <a:ext cx="6590648" cy="398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6790450" y="1983850"/>
            <a:ext cx="2290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If historical trends continue, the median country keeps rising, but outcomes vary widely.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1354950" y="-7"/>
            <a:ext cx="643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Top renewable electricity shares (latest year)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90" name="Google Shape;90;p18" title="02_top15_renewables_breakdow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836" y="976411"/>
            <a:ext cx="6558326" cy="400930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6730150" y="2196113"/>
            <a:ext cx="2290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High-renewables leaders are often </a:t>
            </a:r>
            <a:r>
              <a:rPr lang="it" sz="1800">
                <a:solidFill>
                  <a:srgbClr val="6B6BCF"/>
                </a:solidFill>
              </a:rPr>
              <a:t>hydro-heavy</a:t>
            </a:r>
            <a:r>
              <a:rPr lang="it" sz="1800">
                <a:solidFill>
                  <a:schemeClr val="dk2"/>
                </a:solidFill>
              </a:rPr>
              <a:t>, but some show diversified mixes.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02_top15_renewables_breakdown_forecas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050" y="1036994"/>
            <a:ext cx="6372275" cy="37835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1167450" y="-11"/>
            <a:ext cx="6809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Countries projected to reach ~100% renewables by 2050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6686625" y="2005213"/>
            <a:ext cx="2290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Even among leaders, the mix can be very different: </a:t>
            </a:r>
            <a:r>
              <a:rPr lang="it" sz="1800">
                <a:solidFill>
                  <a:srgbClr val="6B6BCF"/>
                </a:solidFill>
              </a:rPr>
              <a:t>hydro-only</a:t>
            </a:r>
            <a:r>
              <a:rPr lang="it" sz="1800">
                <a:solidFill>
                  <a:schemeClr val="dk2"/>
                </a:solidFill>
              </a:rPr>
              <a:t> vs </a:t>
            </a:r>
            <a:r>
              <a:rPr lang="it" sz="1800">
                <a:solidFill>
                  <a:srgbClr val="6B6BCF"/>
                </a:solidFill>
              </a:rPr>
              <a:t>wind/solar-driven</a:t>
            </a:r>
            <a:r>
              <a:rPr lang="it" sz="1800">
                <a:solidFill>
                  <a:schemeClr val="dk2"/>
                </a:solidFill>
              </a:rPr>
              <a:t> systems.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1741500" y="65700"/>
            <a:ext cx="566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Biggest risers (recent years)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104" name="Google Shape;104;p20" title="02b_dumbbell_top15_growt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488" y="681300"/>
            <a:ext cx="6430725" cy="42923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6680225" y="1903925"/>
            <a:ext cx="2290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Some countries gained +40–80 percentage points, but there is no single “EU-only” pattern.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/>
        </p:nvSpPr>
        <p:spPr>
          <a:xfrm>
            <a:off x="483450" y="71600"/>
            <a:ext cx="817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Biggest risers by 2050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111" name="Google Shape;111;p21" title="02b_dumbbell_top15_growth_forecas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" y="675525"/>
            <a:ext cx="6677576" cy="43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6680225" y="1903925"/>
            <a:ext cx="2290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the projection illustrates a common long-term transition toward renewable energy adoption</a:t>
            </a:r>
            <a:r>
              <a:rPr lang="it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448500" y="0"/>
            <a:ext cx="8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Winners and losers: change in renewable share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118" name="Google Shape;118;p22" title="02c_table_risers_fallers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50" y="948104"/>
            <a:ext cx="6695752" cy="389059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6837000" y="1648200"/>
            <a:ext cx="2290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Most top changes are positive, but </a:t>
            </a:r>
            <a:r>
              <a:rPr lang="it" sz="1800">
                <a:solidFill>
                  <a:srgbClr val="6B6BCF"/>
                </a:solidFill>
              </a:rPr>
              <a:t>some countries lose share</a:t>
            </a:r>
            <a:r>
              <a:rPr lang="it" sz="1800">
                <a:solidFill>
                  <a:schemeClr val="dk2"/>
                </a:solidFill>
              </a:rPr>
              <a:t> due to demand growth or fossil expansion.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02c_table_risers_fallers_forecas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400" y="946800"/>
            <a:ext cx="6696003" cy="378696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6836400" y="1224025"/>
            <a:ext cx="22902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Countries with </a:t>
            </a:r>
            <a:r>
              <a:rPr lang="it" sz="1800">
                <a:solidFill>
                  <a:srgbClr val="6B6BCF"/>
                </a:solidFill>
              </a:rPr>
              <a:t>low initial renewable</a:t>
            </a:r>
            <a:r>
              <a:rPr lang="it" sz="1800">
                <a:solidFill>
                  <a:schemeClr val="dk2"/>
                </a:solidFill>
              </a:rPr>
              <a:t> shares show large </a:t>
            </a:r>
            <a:r>
              <a:rPr lang="it" sz="1800">
                <a:solidFill>
                  <a:srgbClr val="595959"/>
                </a:solidFill>
              </a:rPr>
              <a:t>gains </a:t>
            </a:r>
            <a:r>
              <a:rPr lang="it" sz="1800">
                <a:solidFill>
                  <a:schemeClr val="dk2"/>
                </a:solidFill>
              </a:rPr>
              <a:t>due to </a:t>
            </a:r>
            <a:r>
              <a:rPr lang="it" sz="1800">
                <a:solidFill>
                  <a:srgbClr val="595959"/>
                </a:solidFill>
              </a:rPr>
              <a:t>saturation effects</a:t>
            </a:r>
            <a:r>
              <a:rPr lang="it" sz="1800">
                <a:solidFill>
                  <a:schemeClr val="dk2"/>
                </a:solidFill>
              </a:rPr>
              <a:t>, while </a:t>
            </a:r>
            <a:r>
              <a:rPr lang="it" sz="1800">
                <a:solidFill>
                  <a:srgbClr val="6B6BCF"/>
                </a:solidFill>
              </a:rPr>
              <a:t>fast-growing energy systems</a:t>
            </a:r>
            <a:r>
              <a:rPr lang="it" sz="1800">
                <a:solidFill>
                  <a:schemeClr val="dk2"/>
                </a:solidFill>
              </a:rPr>
              <a:t> may see declining renewable shares despite continued deployment.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448500" y="0"/>
            <a:ext cx="8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2800">
                <a:solidFill>
                  <a:schemeClr val="dk2"/>
                </a:solidFill>
              </a:rPr>
              <a:t>Extreme c</a:t>
            </a:r>
            <a:r>
              <a:rPr b="1" lang="it" sz="2800">
                <a:solidFill>
                  <a:schemeClr val="dk2"/>
                </a:solidFill>
              </a:rPr>
              <a:t>hange in renewable share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4" title="03_global_composition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75" y="789475"/>
            <a:ext cx="6609976" cy="3934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4"/>
          <p:cNvSpPr txBox="1"/>
          <p:nvPr/>
        </p:nvSpPr>
        <p:spPr>
          <a:xfrm>
            <a:off x="448500" y="0"/>
            <a:ext cx="8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Global mix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6738850" y="1648200"/>
            <a:ext cx="2290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Total renewables rise mainly because </a:t>
            </a:r>
            <a:r>
              <a:rPr lang="it" sz="1800">
                <a:solidFill>
                  <a:srgbClr val="6B6BCF"/>
                </a:solidFill>
              </a:rPr>
              <a:t>wind and solar grow</a:t>
            </a:r>
            <a:r>
              <a:rPr lang="it" sz="1800">
                <a:solidFill>
                  <a:schemeClr val="dk2"/>
                </a:solidFill>
              </a:rPr>
              <a:t> on top of stable hydro.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/>
        </p:nvSpPr>
        <p:spPr>
          <a:xfrm>
            <a:off x="448500" y="0"/>
            <a:ext cx="8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By 2050, the mix shifts toward wind and solar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6738850" y="1648200"/>
            <a:ext cx="2290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In the projection, hydro becomes relatively smaller while </a:t>
            </a:r>
            <a:r>
              <a:rPr lang="it" sz="1800">
                <a:solidFill>
                  <a:srgbClr val="6B6BCF"/>
                </a:solidFill>
              </a:rPr>
              <a:t>wind/solar expand strongly</a:t>
            </a:r>
            <a:r>
              <a:rPr lang="it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0" name="Google Shape;140;p25" title="03_global_composition_forecas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25" y="876649"/>
            <a:ext cx="6509476" cy="387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/>
        </p:nvSpPr>
        <p:spPr>
          <a:xfrm>
            <a:off x="150" y="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Major economies: historical patterns (1985–2024)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146" name="Google Shape;146;p26" title="04_heatmap_major_countries_readab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088" y="757950"/>
            <a:ext cx="7951836" cy="408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/>
        </p:nvSpPr>
        <p:spPr>
          <a:xfrm>
            <a:off x="-126" y="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Major economies: trajectories to 2050 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152" name="Google Shape;152;p27" title="04_heatmap_major_countries_forecas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663" y="757950"/>
            <a:ext cx="7854679" cy="408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/>
        </p:nvSpPr>
        <p:spPr>
          <a:xfrm>
            <a:off x="1127400" y="0"/>
            <a:ext cx="688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countries % of renewable share (2024)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158" name="Google Shape;158;p28" title="ez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38" y="610900"/>
            <a:ext cx="8895725" cy="438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9" title="ez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200" y="612000"/>
            <a:ext cx="8895601" cy="438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/>
        </p:nvSpPr>
        <p:spPr>
          <a:xfrm>
            <a:off x="1127400" y="0"/>
            <a:ext cx="688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countries % of renewable share (2050)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/>
        </p:nvSpPr>
        <p:spPr>
          <a:xfrm>
            <a:off x="-150" y="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Is wealth associated with renewables? (recent years)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170" name="Google Shape;170;p30" title="06_scatter_gdp_vs_renew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499" y="810275"/>
            <a:ext cx="6703299" cy="39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/>
        </p:nvSpPr>
        <p:spPr>
          <a:xfrm>
            <a:off x="6868800" y="1786800"/>
            <a:ext cx="2290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We find only a weak relationship: high-renewables countries exist at </a:t>
            </a:r>
            <a:r>
              <a:rPr lang="it" sz="1800">
                <a:solidFill>
                  <a:srgbClr val="6B6BCF"/>
                </a:solidFill>
              </a:rPr>
              <a:t>many income levels</a:t>
            </a:r>
            <a:r>
              <a:rPr lang="it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/>
        </p:nvSpPr>
        <p:spPr>
          <a:xfrm>
            <a:off x="1540725" y="0"/>
            <a:ext cx="613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Projected relationship by 2050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177" name="Google Shape;177;p31" title="06_scatter_gdp_vs_renew_forecas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925" y="779778"/>
            <a:ext cx="6679875" cy="391072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1"/>
          <p:cNvSpPr txBox="1"/>
          <p:nvPr/>
        </p:nvSpPr>
        <p:spPr>
          <a:xfrm>
            <a:off x="6868800" y="1925250"/>
            <a:ext cx="229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Even in the forecast, GDP alone does not explain renewable adoption.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/>
        </p:nvSpPr>
        <p:spPr>
          <a:xfrm>
            <a:off x="1505850" y="0"/>
            <a:ext cx="613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Clustering by transition speed (2014–2024)</a:t>
            </a:r>
            <a:endParaRPr b="1" sz="2800">
              <a:solidFill>
                <a:schemeClr val="dk2"/>
              </a:solidFill>
            </a:endParaRPr>
          </a:p>
        </p:txBody>
      </p:sp>
      <p:pic>
        <p:nvPicPr>
          <p:cNvPr id="184" name="Google Shape;184;p32" title="c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08" y="1125175"/>
            <a:ext cx="4977542" cy="376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2"/>
          <p:cNvSpPr txBox="1"/>
          <p:nvPr/>
        </p:nvSpPr>
        <p:spPr>
          <a:xfrm>
            <a:off x="5945525" y="1709850"/>
            <a:ext cx="2646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2"/>
                </a:solidFill>
              </a:rPr>
              <a:t>We identify groups from slow movers to fast transitioners, driven mostly by wind+solar.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/>
        </p:nvSpPr>
        <p:spPr>
          <a:xfrm>
            <a:off x="1505850" y="0"/>
            <a:ext cx="613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Clustering by transition speed (2014–2024)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191" name="Google Shape;191;p33"/>
          <p:cNvSpPr txBox="1"/>
          <p:nvPr/>
        </p:nvSpPr>
        <p:spPr>
          <a:xfrm>
            <a:off x="5945525" y="1709850"/>
            <a:ext cx="2646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2"/>
                </a:solidFill>
              </a:rPr>
              <a:t>We identify groups from slow movers to fast transitioners, driven mostly by wind+solar.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192" name="Google Shape;192;p33" title="c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077" y="1151400"/>
            <a:ext cx="4997524" cy="3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/>
        </p:nvSpPr>
        <p:spPr>
          <a:xfrm>
            <a:off x="1505850" y="0"/>
            <a:ext cx="613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Socio-economic + mix clustering (2022)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198" name="Google Shape;198;p34"/>
          <p:cNvSpPr txBox="1"/>
          <p:nvPr/>
        </p:nvSpPr>
        <p:spPr>
          <a:xfrm>
            <a:off x="5945525" y="1709850"/>
            <a:ext cx="2646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2"/>
                </a:solidFill>
              </a:rPr>
              <a:t>Clusters separate both by renewable share and by income level, with different diversity profiles.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199" name="Google Shape;199;p34" title="c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125" y="1197825"/>
            <a:ext cx="4716424" cy="37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/>
        </p:nvSpPr>
        <p:spPr>
          <a:xfrm>
            <a:off x="1505850" y="0"/>
            <a:ext cx="613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chemeClr val="dk2"/>
                </a:solidFill>
              </a:rPr>
              <a:t>Socio-economic + mix clustering (2022)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205" name="Google Shape;205;p35"/>
          <p:cNvSpPr txBox="1"/>
          <p:nvPr/>
        </p:nvSpPr>
        <p:spPr>
          <a:xfrm>
            <a:off x="6250625" y="2110263"/>
            <a:ext cx="2646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2"/>
                </a:solidFill>
              </a:rPr>
              <a:t>Clusters are geographically structured: similar mixes often appear in the same regions.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206" name="Google Shape;206;p35" title="c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200" y="1297725"/>
            <a:ext cx="5724276" cy="33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/>
        </p:nvSpPr>
        <p:spPr>
          <a:xfrm>
            <a:off x="1153500" y="1925250"/>
            <a:ext cx="6837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7200">
                <a:solidFill>
                  <a:schemeClr val="dk2"/>
                </a:solidFill>
              </a:rPr>
              <a:t>Thank you!</a:t>
            </a:r>
            <a:endParaRPr b="1" sz="7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